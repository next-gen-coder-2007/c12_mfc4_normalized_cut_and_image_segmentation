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8288000" cy="10287000"/>
  <p:notesSz cx="6858000" cy="9144000"/>
  <p:embeddedFontLst>
    <p:embeddedFont>
      <p:font typeface="Coco Gothic" panose="020B0604020202020204" charset="0"/>
      <p:regular r:id="rId31"/>
    </p:embeddedFont>
    <p:embeddedFont>
      <p:font typeface="Coco Gothic Bold" panose="020B0604020202020204" charset="0"/>
      <p:regular r:id="rId32"/>
    </p:embeddedFont>
    <p:embeddedFont>
      <p:font typeface="Merriweather Sans" pitchFamily="2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skaran Boss" userId="4a947fba084d8e85" providerId="LiveId" clId="{F7458BBA-677D-4975-ADD9-36AB077A66CD}"/>
    <pc:docChg chg="modSld">
      <pc:chgData name="Baskaran Boss" userId="4a947fba084d8e85" providerId="LiveId" clId="{F7458BBA-677D-4975-ADD9-36AB077A66CD}" dt="2026-03-13T12:08:17.644" v="5" actId="14100"/>
      <pc:docMkLst>
        <pc:docMk/>
      </pc:docMkLst>
      <pc:sldChg chg="addSp modSp mod">
        <pc:chgData name="Baskaran Boss" userId="4a947fba084d8e85" providerId="LiveId" clId="{F7458BBA-677D-4975-ADD9-36AB077A66CD}" dt="2026-03-13T12:08:17.644" v="5" actId="14100"/>
        <pc:sldMkLst>
          <pc:docMk/>
          <pc:sldMk cId="0" sldId="280"/>
        </pc:sldMkLst>
        <pc:picChg chg="add mod">
          <ac:chgData name="Baskaran Boss" userId="4a947fba084d8e85" providerId="LiveId" clId="{F7458BBA-677D-4975-ADD9-36AB077A66CD}" dt="2026-03-13T12:08:17.644" v="5" actId="14100"/>
          <ac:picMkLst>
            <pc:docMk/>
            <pc:sldMk cId="0" sldId="280"/>
            <ac:picMk id="10" creationId="{0B7ABF36-F12B-C5C1-8247-1E1CB78662D8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0" Type="http://schemas.openxmlformats.org/officeDocument/2006/relationships/image" Target="../media/image15.png"/><Relationship Id="rId4" Type="http://schemas.openxmlformats.org/officeDocument/2006/relationships/image" Target="../media/image3.svg"/><Relationship Id="rId9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22.png"/><Relationship Id="rId5" Type="http://schemas.openxmlformats.org/officeDocument/2006/relationships/image" Target="../media/image4.png"/><Relationship Id="rId10" Type="http://schemas.openxmlformats.org/officeDocument/2006/relationships/image" Target="../media/image21.png"/><Relationship Id="rId4" Type="http://schemas.openxmlformats.org/officeDocument/2006/relationships/image" Target="../media/image3.svg"/><Relationship Id="rId9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2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.png"/><Relationship Id="rId7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34.png"/><Relationship Id="rId5" Type="http://schemas.openxmlformats.org/officeDocument/2006/relationships/image" Target="../media/image4.png"/><Relationship Id="rId10" Type="http://schemas.openxmlformats.org/officeDocument/2006/relationships/image" Target="../media/image33.png"/><Relationship Id="rId4" Type="http://schemas.openxmlformats.org/officeDocument/2006/relationships/image" Target="../media/image3.svg"/><Relationship Id="rId9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39.png"/><Relationship Id="rId5" Type="http://schemas.openxmlformats.org/officeDocument/2006/relationships/image" Target="../media/image4.png"/><Relationship Id="rId10" Type="http://schemas.openxmlformats.org/officeDocument/2006/relationships/image" Target="../media/image38.png"/><Relationship Id="rId4" Type="http://schemas.openxmlformats.org/officeDocument/2006/relationships/image" Target="../media/image3.svg"/><Relationship Id="rId9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.svg"/><Relationship Id="rId7" Type="http://schemas.openxmlformats.org/officeDocument/2006/relationships/image" Target="../media/image4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5.svg"/><Relationship Id="rId10" Type="http://schemas.openxmlformats.org/officeDocument/2006/relationships/image" Target="../media/image44.png"/><Relationship Id="rId4" Type="http://schemas.openxmlformats.org/officeDocument/2006/relationships/image" Target="../media/image4.png"/><Relationship Id="rId9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2.png"/><Relationship Id="rId7" Type="http://schemas.openxmlformats.org/officeDocument/2006/relationships/image" Target="../media/image4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2.png"/><Relationship Id="rId7" Type="http://schemas.openxmlformats.org/officeDocument/2006/relationships/image" Target="../media/image5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2.png"/><Relationship Id="rId7" Type="http://schemas.openxmlformats.org/officeDocument/2006/relationships/image" Target="../media/image5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575329" y="2576992"/>
            <a:ext cx="14595024" cy="173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NORMALIZED CUTS AND IMAGE SEGMENTATION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874152" y="6047511"/>
            <a:ext cx="5997377" cy="214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Naveen k-CB.SC.U4AIE24235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Subash B-CB.SC.U4AIE24254</a:t>
            </a:r>
          </a:p>
          <a:p>
            <a:pPr algn="ctr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Sai Kushal B-CB.SC.U4AIE24252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Cibi Kumar-CB.SC.U4AIE24212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131207" y="662743"/>
            <a:ext cx="11228195" cy="118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INTRODUCTION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13821" y="3422845"/>
            <a:ext cx="12262966" cy="5004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3"/>
              </a:lnSpc>
            </a:pPr>
            <a:r>
              <a:rPr lang="en-US" sz="259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Image segmentation is the process of dividing an image into meaningful regions.</a:t>
            </a:r>
          </a:p>
          <a:p>
            <a:pPr algn="l">
              <a:lnSpc>
                <a:spcPts val="3633"/>
              </a:lnSpc>
            </a:pPr>
            <a:r>
              <a:rPr lang="en-US" sz="259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Goal:</a:t>
            </a:r>
          </a:p>
          <a:p>
            <a:pPr marL="560333" lvl="1" indent="-280167" algn="l">
              <a:lnSpc>
                <a:spcPts val="3633"/>
              </a:lnSpc>
              <a:buFont typeface="Arial"/>
              <a:buChar char="•"/>
            </a:pPr>
            <a:r>
              <a:rPr lang="en-US" sz="259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Identify objects</a:t>
            </a:r>
          </a:p>
          <a:p>
            <a:pPr marL="560333" lvl="1" indent="-280167" algn="l">
              <a:lnSpc>
                <a:spcPts val="3633"/>
              </a:lnSpc>
              <a:buFont typeface="Arial"/>
              <a:buChar char="•"/>
            </a:pPr>
            <a:r>
              <a:rPr lang="en-US" sz="259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Separate foreground and background</a:t>
            </a:r>
          </a:p>
          <a:p>
            <a:pPr marL="560333" lvl="1" indent="-280167" algn="l">
              <a:lnSpc>
                <a:spcPts val="3633"/>
              </a:lnSpc>
              <a:buFont typeface="Arial"/>
              <a:buChar char="•"/>
            </a:pPr>
            <a:r>
              <a:rPr lang="en-US" sz="259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Understand scene structure</a:t>
            </a:r>
          </a:p>
          <a:p>
            <a:pPr algn="l">
              <a:lnSpc>
                <a:spcPts val="3633"/>
              </a:lnSpc>
            </a:pPr>
            <a:r>
              <a:rPr lang="en-US" sz="259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Applications:</a:t>
            </a:r>
          </a:p>
          <a:p>
            <a:pPr marL="560333" lvl="1" indent="-280167" algn="l">
              <a:lnSpc>
                <a:spcPts val="3633"/>
              </a:lnSpc>
              <a:buFont typeface="Arial"/>
              <a:buChar char="•"/>
            </a:pPr>
            <a:r>
              <a:rPr lang="en-US" sz="259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Medical imaging</a:t>
            </a:r>
          </a:p>
          <a:p>
            <a:pPr marL="560333" lvl="1" indent="-280167" algn="l">
              <a:lnSpc>
                <a:spcPts val="3633"/>
              </a:lnSpc>
              <a:buFont typeface="Arial"/>
              <a:buChar char="•"/>
            </a:pPr>
            <a:r>
              <a:rPr lang="en-US" sz="259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Autonomous driving</a:t>
            </a:r>
          </a:p>
          <a:p>
            <a:pPr marL="560333" lvl="1" indent="-280167" algn="l">
              <a:lnSpc>
                <a:spcPts val="3633"/>
              </a:lnSpc>
              <a:buFont typeface="Arial"/>
              <a:buChar char="•"/>
            </a:pPr>
            <a:r>
              <a:rPr lang="en-US" sz="259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Object detection</a:t>
            </a:r>
          </a:p>
          <a:p>
            <a:pPr marL="560333" lvl="1" indent="-280167" algn="l">
              <a:lnSpc>
                <a:spcPts val="3633"/>
              </a:lnSpc>
              <a:buFont typeface="Arial"/>
              <a:buChar char="•"/>
            </a:pPr>
            <a:r>
              <a:rPr lang="en-US" sz="259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Image compression</a:t>
            </a:r>
          </a:p>
          <a:p>
            <a:pPr algn="l">
              <a:lnSpc>
                <a:spcPts val="3633"/>
              </a:lnSpc>
            </a:pPr>
            <a:endParaRPr lang="en-US" sz="2595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57861" y="637040"/>
            <a:ext cx="11228195" cy="173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 PROBLEM WITH TRADITIONAL SEGMENTATION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81042" y="3454348"/>
            <a:ext cx="13448300" cy="4115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3"/>
              </a:lnSpc>
              <a:spcBef>
                <a:spcPct val="0"/>
              </a:spcBef>
            </a:pPr>
            <a:r>
              <a:rPr lang="en-US" sz="259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Traditional segmentation methods focus on local features such as:</a:t>
            </a:r>
          </a:p>
          <a:p>
            <a:pPr marL="560358" lvl="1" indent="-280179" algn="l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259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Edges</a:t>
            </a:r>
          </a:p>
          <a:p>
            <a:pPr marL="560358" lvl="1" indent="-280179" algn="l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259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Color similarity</a:t>
            </a:r>
          </a:p>
          <a:p>
            <a:pPr marL="560358" lvl="1" indent="-280179" algn="l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259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Texture</a:t>
            </a:r>
          </a:p>
          <a:p>
            <a:pPr algn="l">
              <a:lnSpc>
                <a:spcPts val="3633"/>
              </a:lnSpc>
              <a:spcBef>
                <a:spcPct val="0"/>
              </a:spcBef>
            </a:pPr>
            <a:r>
              <a:rPr lang="en-US" sz="259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Limitations:</a:t>
            </a:r>
          </a:p>
          <a:p>
            <a:pPr marL="560358" lvl="1" indent="-280179" algn="l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259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Cannot capture global structure</a:t>
            </a:r>
          </a:p>
          <a:p>
            <a:pPr marL="560358" lvl="1" indent="-280179" algn="l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259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Sensitive to noise</a:t>
            </a:r>
          </a:p>
          <a:p>
            <a:pPr marL="560358" lvl="1" indent="-280179" algn="l">
              <a:lnSpc>
                <a:spcPts val="3633"/>
              </a:lnSpc>
              <a:spcBef>
                <a:spcPct val="0"/>
              </a:spcBef>
              <a:buFont typeface="Arial"/>
              <a:buChar char="•"/>
            </a:pPr>
            <a:r>
              <a:rPr lang="en-US" sz="259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Often produce fragmented segments</a:t>
            </a:r>
          </a:p>
          <a:p>
            <a:pPr algn="l">
              <a:lnSpc>
                <a:spcPts val="3633"/>
              </a:lnSpc>
              <a:spcBef>
                <a:spcPct val="0"/>
              </a:spcBef>
            </a:pPr>
            <a:endParaRPr lang="en-US" sz="2595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151079" y="2856819"/>
            <a:ext cx="9500473" cy="5944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The image is represented as a graph.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Graph: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  G=(V,E) Where: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V = set of nodes (pixels)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E = edges connecting pixels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Each edge has a weight representing similarity between pixels.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Goal: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Split the graph into groups such that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similarity within groups is high</a:t>
            </a:r>
          </a:p>
          <a:p>
            <a:pPr marL="561341" lvl="1" indent="-280670" algn="l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similarity between groups is low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505171" y="725435"/>
            <a:ext cx="8792289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MAIN IDEA OF THE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23834" y="2833138"/>
            <a:ext cx="11638121" cy="62669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7"/>
              </a:lnSpc>
            </a:pPr>
            <a:r>
              <a:rPr lang="en-US" sz="256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Similarity between two pixels i and j is defined as</a:t>
            </a:r>
          </a:p>
          <a:p>
            <a:pPr algn="l">
              <a:lnSpc>
                <a:spcPts val="3597"/>
              </a:lnSpc>
            </a:pPr>
            <a:endParaRPr lang="en-US" sz="2569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597"/>
              </a:lnSpc>
            </a:pPr>
            <a:endParaRPr lang="en-US" sz="2569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597"/>
              </a:lnSpc>
            </a:pPr>
            <a:endParaRPr lang="en-US" sz="2569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597"/>
              </a:lnSpc>
            </a:pPr>
            <a:endParaRPr lang="en-US" sz="2569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597"/>
              </a:lnSpc>
            </a:pPr>
            <a:r>
              <a:rPr lang="en-US" sz="256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Where:</a:t>
            </a:r>
          </a:p>
          <a:p>
            <a:pPr marL="554718" lvl="1" indent="-277359" algn="l">
              <a:lnSpc>
                <a:spcPts val="3597"/>
              </a:lnSpc>
              <a:buFont typeface="Arial"/>
              <a:buChar char="•"/>
            </a:pPr>
            <a:r>
              <a:rPr lang="en-US" sz="256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Wij​ → similarity between nodes</a:t>
            </a:r>
          </a:p>
          <a:p>
            <a:pPr marL="554718" lvl="1" indent="-277359" algn="l">
              <a:lnSpc>
                <a:spcPts val="3597"/>
              </a:lnSpc>
              <a:buFont typeface="Arial"/>
              <a:buChar char="•"/>
            </a:pPr>
            <a:r>
              <a:rPr lang="en-US" sz="256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Dij → distance between feature vectors</a:t>
            </a:r>
          </a:p>
          <a:p>
            <a:pPr marL="554718" lvl="1" indent="-277359" algn="l">
              <a:lnSpc>
                <a:spcPts val="3597"/>
              </a:lnSpc>
              <a:buFont typeface="Arial"/>
              <a:buChar char="•"/>
            </a:pPr>
            <a:r>
              <a:rPr lang="en-US" sz="256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σ → scaling parameter controlling similarity decay</a:t>
            </a:r>
          </a:p>
          <a:p>
            <a:pPr marL="554718" lvl="1" indent="-277359" algn="l">
              <a:lnSpc>
                <a:spcPts val="3597"/>
              </a:lnSpc>
              <a:buFont typeface="Arial"/>
              <a:buChar char="•"/>
            </a:pPr>
            <a:r>
              <a:rPr lang="en-US" sz="256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edgeFactor → additional weight (often used for boundary/edge emphasis)</a:t>
            </a:r>
          </a:p>
          <a:p>
            <a:pPr algn="l">
              <a:lnSpc>
                <a:spcPts val="3597"/>
              </a:lnSpc>
            </a:pPr>
            <a:endParaRPr lang="en-US" sz="2569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597"/>
              </a:lnSpc>
            </a:pPr>
            <a:r>
              <a:rPr lang="en-US" sz="256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Interpretation</a:t>
            </a:r>
          </a:p>
          <a:p>
            <a:pPr marL="554718" lvl="1" indent="-277359" algn="l">
              <a:lnSpc>
                <a:spcPts val="3597"/>
              </a:lnSpc>
              <a:buFont typeface="Arial"/>
              <a:buChar char="•"/>
            </a:pPr>
            <a:r>
              <a:rPr lang="en-US" sz="256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If two pixels are similar → Dij small → weight ≈ high</a:t>
            </a:r>
          </a:p>
          <a:p>
            <a:pPr marL="554718" lvl="1" indent="-277359" algn="l">
              <a:lnSpc>
                <a:spcPts val="3597"/>
              </a:lnSpc>
              <a:buFont typeface="Arial"/>
              <a:buChar char="•"/>
            </a:pPr>
            <a:r>
              <a:rPr lang="en-US" sz="256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If two pixels are very different → Dij​ large → weight ≈ close to 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52549" y="554038"/>
            <a:ext cx="11228195" cy="173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WEIGHT MATRIX USING EDGE WEIGHTS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0623" y="3161103"/>
            <a:ext cx="6051094" cy="18918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29903" y="462718"/>
            <a:ext cx="11228195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MINIMUM CUT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66815" y="3297993"/>
            <a:ext cx="11895296" cy="3732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0"/>
              </a:lnSpc>
              <a:spcBef>
                <a:spcPct val="0"/>
              </a:spcBef>
            </a:pPr>
            <a:r>
              <a:rPr lang="en-US" sz="3043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The cost of separating the graph is called cut</a:t>
            </a:r>
          </a:p>
          <a:p>
            <a:pPr algn="l">
              <a:lnSpc>
                <a:spcPts val="4260"/>
              </a:lnSpc>
              <a:spcBef>
                <a:spcPct val="0"/>
              </a:spcBef>
            </a:pPr>
            <a:endParaRPr lang="en-US" sz="3043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4260"/>
              </a:lnSpc>
              <a:spcBef>
                <a:spcPct val="0"/>
              </a:spcBef>
            </a:pPr>
            <a:endParaRPr lang="en-US" sz="3043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4260"/>
              </a:lnSpc>
              <a:spcBef>
                <a:spcPct val="0"/>
              </a:spcBef>
            </a:pPr>
            <a:r>
              <a:rPr lang="en-US" sz="3043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Where:</a:t>
            </a:r>
          </a:p>
          <a:p>
            <a:pPr algn="l">
              <a:lnSpc>
                <a:spcPts val="4260"/>
              </a:lnSpc>
              <a:spcBef>
                <a:spcPct val="0"/>
              </a:spcBef>
            </a:pPr>
            <a:r>
              <a:rPr lang="en-US" sz="3043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w(u,v) = similarity between nodes u and v.</a:t>
            </a:r>
          </a:p>
          <a:p>
            <a:pPr algn="l">
              <a:lnSpc>
                <a:spcPts val="4260"/>
              </a:lnSpc>
              <a:spcBef>
                <a:spcPct val="0"/>
              </a:spcBef>
            </a:pPr>
            <a:r>
              <a:rPr lang="en-US" sz="3043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The formula sums all weights connecting nodes in A to nodes in B.</a:t>
            </a:r>
          </a:p>
          <a:p>
            <a:pPr algn="l">
              <a:lnSpc>
                <a:spcPts val="4260"/>
              </a:lnSpc>
              <a:spcBef>
                <a:spcPct val="0"/>
              </a:spcBef>
            </a:pPr>
            <a:endParaRPr lang="en-US" sz="3043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2281" y="3780552"/>
            <a:ext cx="5505769" cy="18217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29903" y="462718"/>
            <a:ext cx="11228195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MINIMUM CUT EXAMPLE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49325" y="1222966"/>
            <a:ext cx="5505769" cy="1821762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3136942" y="3441539"/>
            <a:ext cx="14852382" cy="6022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7"/>
              </a:lnSpc>
            </a:pPr>
            <a:r>
              <a:rPr lang="en-US" sz="2412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Example Graph</a:t>
            </a:r>
          </a:p>
          <a:p>
            <a:pPr algn="l">
              <a:lnSpc>
                <a:spcPts val="3377"/>
              </a:lnSpc>
            </a:pPr>
            <a:endParaRPr lang="en-US" sz="2412" b="1">
              <a:solidFill>
                <a:srgbClr val="000000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l">
              <a:lnSpc>
                <a:spcPts val="3377"/>
              </a:lnSpc>
            </a:pPr>
            <a:r>
              <a:rPr lang="en-US" sz="2412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Suppose we have 4 nodes.</a:t>
            </a:r>
          </a:p>
          <a:p>
            <a:pPr algn="l">
              <a:lnSpc>
                <a:spcPts val="3377"/>
              </a:lnSpc>
            </a:pPr>
            <a:endParaRPr lang="en-US" sz="2412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377"/>
              </a:lnSpc>
            </a:pPr>
            <a:r>
              <a:rPr lang="en-US" sz="2412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Group A = {1,2}</a:t>
            </a:r>
          </a:p>
          <a:p>
            <a:pPr algn="l">
              <a:lnSpc>
                <a:spcPts val="3377"/>
              </a:lnSpc>
            </a:pPr>
            <a:r>
              <a:rPr lang="en-US" sz="2412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Group B = {3,4}</a:t>
            </a:r>
          </a:p>
          <a:p>
            <a:pPr algn="l">
              <a:lnSpc>
                <a:spcPts val="3377"/>
              </a:lnSpc>
            </a:pPr>
            <a:endParaRPr lang="en-US" sz="2412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377"/>
              </a:lnSpc>
            </a:pPr>
            <a:r>
              <a:rPr lang="en-US" sz="2412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Edge weights:</a:t>
            </a:r>
          </a:p>
          <a:p>
            <a:pPr algn="l">
              <a:lnSpc>
                <a:spcPts val="3377"/>
              </a:lnSpc>
            </a:pPr>
            <a:r>
              <a:rPr lang="en-US" sz="2412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1 → 3 = 2</a:t>
            </a:r>
          </a:p>
          <a:p>
            <a:pPr algn="l">
              <a:lnSpc>
                <a:spcPts val="3377"/>
              </a:lnSpc>
            </a:pPr>
            <a:r>
              <a:rPr lang="en-US" sz="2412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1 → 4 = 1</a:t>
            </a:r>
          </a:p>
          <a:p>
            <a:pPr algn="l">
              <a:lnSpc>
                <a:spcPts val="3377"/>
              </a:lnSpc>
            </a:pPr>
            <a:r>
              <a:rPr lang="en-US" sz="2412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2 → 3 = 3</a:t>
            </a:r>
          </a:p>
          <a:p>
            <a:pPr algn="l">
              <a:lnSpc>
                <a:spcPts val="3377"/>
              </a:lnSpc>
            </a:pPr>
            <a:r>
              <a:rPr lang="en-US" sz="2412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2 → 4 = 2</a:t>
            </a:r>
          </a:p>
          <a:p>
            <a:pPr algn="ctr">
              <a:lnSpc>
                <a:spcPts val="3377"/>
              </a:lnSpc>
            </a:pPr>
            <a:endParaRPr lang="en-US" sz="2412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ctr">
              <a:lnSpc>
                <a:spcPts val="3377"/>
              </a:lnSpc>
              <a:spcBef>
                <a:spcPct val="0"/>
              </a:spcBef>
            </a:pPr>
            <a:endParaRPr lang="en-US" sz="2412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467960" y="3451064"/>
            <a:ext cx="7393981" cy="3658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Calculation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cut(A,B) = 2 + 1 + 3 + 2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cut(A,B) = 8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Meaning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Cut value measures the total similarity between two groups.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29903" y="1221543"/>
            <a:ext cx="11228195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PROBLEM WITH MINIMUM CUT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095512" y="4479872"/>
            <a:ext cx="10046851" cy="340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Minimum cut often gives bad segmentation.</a:t>
            </a:r>
          </a:p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Example:</a:t>
            </a:r>
          </a:p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Instead of separating objects, it may isolate small pixel groups.</a:t>
            </a:r>
          </a:p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Reason:</a:t>
            </a:r>
          </a:p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Cut value becomes small when few edges are removed.</a:t>
            </a:r>
          </a:p>
          <a:p>
            <a:pPr algn="l">
              <a:lnSpc>
                <a:spcPts val="3843"/>
              </a:lnSpc>
              <a:spcBef>
                <a:spcPct val="0"/>
              </a:spcBef>
            </a:pPr>
            <a:r>
              <a:rPr lang="en-US" sz="274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Therefore the partition becomes unbalanced.</a:t>
            </a:r>
          </a:p>
          <a:p>
            <a:pPr algn="l">
              <a:lnSpc>
                <a:spcPts val="3843"/>
              </a:lnSpc>
              <a:spcBef>
                <a:spcPct val="0"/>
              </a:spcBef>
            </a:pPr>
            <a:endParaRPr lang="en-US" sz="2745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29903" y="554038"/>
            <a:ext cx="11228195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ASSOCIATION FORMULA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94052" y="2651930"/>
            <a:ext cx="8146732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To fix minimum cut problem, we measure association.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3527" y="3519757"/>
            <a:ext cx="5811118" cy="18733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4596047" y="5502591"/>
            <a:ext cx="10565368" cy="3208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Explanation: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This calculates the total connection of nodes in A to the entire graph.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Similarly: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is the total connection of B to all nodes.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This helps measure how strongly a group is connected.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0613" y="6522490"/>
            <a:ext cx="2446774" cy="8178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29903" y="554038"/>
            <a:ext cx="11228195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ASSOCIATION EXAMPLE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8610" y="1312070"/>
            <a:ext cx="5811118" cy="18733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4522117" y="3307518"/>
            <a:ext cx="3635228" cy="4572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Example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Group A = {1,2}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Connections: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1 → 2 = 4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1 → 3 = 2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1 → 4 = 1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2 → 3 = 3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2 → 4 = 2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680686" y="3488823"/>
            <a:ext cx="5400520" cy="411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Calculation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assoc(A,V) = 4 + 2 + 1 + 3 + 2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assoc(A,V) = 12</a:t>
            </a:r>
          </a:p>
          <a:p>
            <a:pPr algn="l">
              <a:lnSpc>
                <a:spcPts val="3640"/>
              </a:lnSpc>
            </a:pPr>
            <a:endParaRPr lang="en-US" sz="26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640"/>
              </a:lnSpc>
            </a:pPr>
            <a:r>
              <a:rPr lang="en-US" sz="2600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Meaning</a:t>
            </a:r>
          </a:p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Association measures how strongly a group is connected to the entire graph.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529903" y="554038"/>
            <a:ext cx="11228195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NORMALIZED ASSOCIATION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287" y="3151584"/>
            <a:ext cx="8571506" cy="2304863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4795" y="4735294"/>
            <a:ext cx="4882927" cy="1669403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174" y="5956052"/>
            <a:ext cx="8185410" cy="1768763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1388" y="6699155"/>
            <a:ext cx="8889572" cy="1920205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17647" y="7745725"/>
            <a:ext cx="8334464" cy="1800971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9754" y="8711426"/>
            <a:ext cx="8429178" cy="1820758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3070967" y="2146139"/>
            <a:ext cx="11610586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Normalized Association measures how strongly nodes within the same group are connected.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3860" y="4714386"/>
            <a:ext cx="10229876" cy="2605044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5935" y="6330553"/>
            <a:ext cx="8545726" cy="2345731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15748" y="8336698"/>
            <a:ext cx="6456504" cy="1459644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74820" y="3484609"/>
            <a:ext cx="9738360" cy="2470421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74820" y="2094322"/>
            <a:ext cx="9738360" cy="2470421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82285" y="333601"/>
            <a:ext cx="11798309" cy="27495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04553" y="312114"/>
            <a:ext cx="11228195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NORMALIZED CUT FORMULA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19553" y="3810377"/>
            <a:ext cx="12848894" cy="53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2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2912535" y="5970896"/>
            <a:ext cx="12848894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Where: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8656" y="3945854"/>
            <a:ext cx="7631202" cy="2113685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1089" y="6260404"/>
            <a:ext cx="9335123" cy="2711213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912535" y="2038092"/>
            <a:ext cx="12113539" cy="182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Normalized Cut measures the quality of graph partitioning by considering both: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• Dissimilarity between groups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• Similarity within groups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750392" y="7102364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1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1" y="0"/>
                </a:lnTo>
                <a:lnTo>
                  <a:pt x="5226651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844344" y="7200900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5" y="0"/>
                </a:lnTo>
                <a:lnTo>
                  <a:pt x="3059915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304553" y="312114"/>
            <a:ext cx="11228195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NORMALIZED CUT EXAMPLE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719553" y="3810377"/>
            <a:ext cx="12848894" cy="53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2"/>
              </a:lnSpc>
              <a:spcBef>
                <a:spcPct val="0"/>
              </a:spcBef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7492" y="680860"/>
            <a:ext cx="7631202" cy="2113685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251886" y="2687086"/>
            <a:ext cx="6703079" cy="71707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1"/>
              </a:lnSpc>
            </a:pPr>
            <a:r>
              <a:rPr lang="en-US" sz="2393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Example of a Good Cut</a:t>
            </a:r>
          </a:p>
          <a:p>
            <a:pPr algn="l">
              <a:lnSpc>
                <a:spcPts val="3351"/>
              </a:lnSpc>
            </a:pPr>
            <a:endParaRPr lang="en-US" sz="2393" b="1">
              <a:solidFill>
                <a:srgbClr val="000000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l">
              <a:lnSpc>
                <a:spcPts val="3351"/>
              </a:lnSpc>
            </a:pPr>
            <a:r>
              <a:rPr lang="en-US" sz="2393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cut(A,B) = 3</a:t>
            </a:r>
          </a:p>
          <a:p>
            <a:pPr algn="l">
              <a:lnSpc>
                <a:spcPts val="3351"/>
              </a:lnSpc>
            </a:pPr>
            <a:r>
              <a:rPr lang="en-US" sz="2393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assoc(A,V) = 12</a:t>
            </a:r>
          </a:p>
          <a:p>
            <a:pPr algn="l">
              <a:lnSpc>
                <a:spcPts val="3351"/>
              </a:lnSpc>
            </a:pPr>
            <a:r>
              <a:rPr lang="en-US" sz="2393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assoc(B,V) = 14</a:t>
            </a:r>
          </a:p>
          <a:p>
            <a:pPr algn="l">
              <a:lnSpc>
                <a:spcPts val="3351"/>
              </a:lnSpc>
            </a:pPr>
            <a:endParaRPr lang="en-US" sz="2393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351"/>
              </a:lnSpc>
            </a:pPr>
            <a:r>
              <a:rPr lang="en-US" sz="2393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Calculation</a:t>
            </a:r>
          </a:p>
          <a:p>
            <a:pPr algn="l">
              <a:lnSpc>
                <a:spcPts val="3351"/>
              </a:lnSpc>
            </a:pPr>
            <a:r>
              <a:rPr lang="en-US" sz="2393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Ncut = 3/12 + 3/14</a:t>
            </a:r>
          </a:p>
          <a:p>
            <a:pPr algn="l">
              <a:lnSpc>
                <a:spcPts val="3351"/>
              </a:lnSpc>
            </a:pPr>
            <a:r>
              <a:rPr lang="en-US" sz="2393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Ncut = 0.25 + 0.214</a:t>
            </a:r>
          </a:p>
          <a:p>
            <a:pPr algn="l">
              <a:lnSpc>
                <a:spcPts val="3351"/>
              </a:lnSpc>
            </a:pPr>
            <a:r>
              <a:rPr lang="en-US" sz="2393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Ncut ≈ 0.464</a:t>
            </a:r>
          </a:p>
          <a:p>
            <a:pPr algn="l">
              <a:lnSpc>
                <a:spcPts val="3351"/>
              </a:lnSpc>
            </a:pPr>
            <a:endParaRPr lang="en-US" sz="2393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3351"/>
              </a:lnSpc>
            </a:pPr>
            <a:r>
              <a:rPr lang="en-US" sz="2393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Interpretation</a:t>
            </a:r>
          </a:p>
          <a:p>
            <a:pPr marL="516778" lvl="1" indent="-258389" algn="l">
              <a:lnSpc>
                <a:spcPts val="3351"/>
              </a:lnSpc>
              <a:buFont typeface="Arial"/>
              <a:buChar char="•"/>
            </a:pPr>
            <a:r>
              <a:rPr lang="en-US" sz="2393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Smaller Ncut → Better segmentation</a:t>
            </a:r>
          </a:p>
          <a:p>
            <a:pPr marL="516778" lvl="1" indent="-258389" algn="l">
              <a:lnSpc>
                <a:spcPts val="3351"/>
              </a:lnSpc>
              <a:buFont typeface="Arial"/>
              <a:buChar char="•"/>
            </a:pPr>
            <a:r>
              <a:rPr lang="en-US" sz="2393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Groups are weakly connected to each other</a:t>
            </a:r>
          </a:p>
          <a:p>
            <a:pPr marL="516778" lvl="1" indent="-258389" algn="l">
              <a:lnSpc>
                <a:spcPts val="3351"/>
              </a:lnSpc>
              <a:buFont typeface="Arial"/>
              <a:buChar char="•"/>
            </a:pPr>
            <a:r>
              <a:rPr lang="en-US" sz="2393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Nodes inside each group are strongly connected</a:t>
            </a:r>
          </a:p>
          <a:p>
            <a:pPr algn="l">
              <a:lnSpc>
                <a:spcPts val="3351"/>
              </a:lnSpc>
            </a:pPr>
            <a:endParaRPr lang="en-US" sz="2393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378796" y="2696611"/>
            <a:ext cx="7255966" cy="6875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31"/>
              </a:lnSpc>
            </a:pPr>
            <a:r>
              <a:rPr lang="en-US" sz="2451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Example of a Bad Cut</a:t>
            </a:r>
          </a:p>
          <a:p>
            <a:pPr algn="just">
              <a:lnSpc>
                <a:spcPts val="3431"/>
              </a:lnSpc>
            </a:pPr>
            <a:endParaRPr lang="en-US" sz="2451" b="1">
              <a:solidFill>
                <a:srgbClr val="000000"/>
              </a:solidFill>
              <a:latin typeface="Coco Gothic Bold"/>
              <a:ea typeface="Coco Gothic Bold"/>
              <a:cs typeface="Coco Gothic Bold"/>
              <a:sym typeface="Coco Gothic Bold"/>
            </a:endParaRPr>
          </a:p>
          <a:p>
            <a:pPr algn="just">
              <a:lnSpc>
                <a:spcPts val="3431"/>
              </a:lnSpc>
            </a:pPr>
            <a:r>
              <a:rPr lang="en-US" sz="245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cut(A,B) = 10</a:t>
            </a:r>
          </a:p>
          <a:p>
            <a:pPr algn="just">
              <a:lnSpc>
                <a:spcPts val="3431"/>
              </a:lnSpc>
            </a:pPr>
            <a:r>
              <a:rPr lang="en-US" sz="245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assoc(A,V) = 12</a:t>
            </a:r>
          </a:p>
          <a:p>
            <a:pPr algn="just">
              <a:lnSpc>
                <a:spcPts val="3431"/>
              </a:lnSpc>
            </a:pPr>
            <a:r>
              <a:rPr lang="en-US" sz="245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assoc(B,V) = 14</a:t>
            </a:r>
          </a:p>
          <a:p>
            <a:pPr algn="just">
              <a:lnSpc>
                <a:spcPts val="3431"/>
              </a:lnSpc>
            </a:pPr>
            <a:endParaRPr lang="en-US" sz="2451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just">
              <a:lnSpc>
                <a:spcPts val="3431"/>
              </a:lnSpc>
            </a:pPr>
            <a:r>
              <a:rPr lang="en-US" sz="2451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Calculation</a:t>
            </a:r>
          </a:p>
          <a:p>
            <a:pPr algn="just">
              <a:lnSpc>
                <a:spcPts val="3431"/>
              </a:lnSpc>
            </a:pPr>
            <a:r>
              <a:rPr lang="en-US" sz="245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Ncut = 10/12 + 10/14</a:t>
            </a:r>
          </a:p>
          <a:p>
            <a:pPr algn="just">
              <a:lnSpc>
                <a:spcPts val="3431"/>
              </a:lnSpc>
            </a:pPr>
            <a:r>
              <a:rPr lang="en-US" sz="245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Ncut = 0.833 + 0.714</a:t>
            </a:r>
          </a:p>
          <a:p>
            <a:pPr algn="just">
              <a:lnSpc>
                <a:spcPts val="3431"/>
              </a:lnSpc>
            </a:pPr>
            <a:r>
              <a:rPr lang="en-US" sz="245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Ncut ≈ 1.547</a:t>
            </a:r>
          </a:p>
          <a:p>
            <a:pPr algn="just">
              <a:lnSpc>
                <a:spcPts val="3431"/>
              </a:lnSpc>
            </a:pPr>
            <a:endParaRPr lang="en-US" sz="2451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just">
              <a:lnSpc>
                <a:spcPts val="3431"/>
              </a:lnSpc>
            </a:pPr>
            <a:r>
              <a:rPr lang="en-US" sz="2451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Interpretation</a:t>
            </a:r>
          </a:p>
          <a:p>
            <a:pPr marL="529236" lvl="1" indent="-264618" algn="l">
              <a:lnSpc>
                <a:spcPts val="3431"/>
              </a:lnSpc>
              <a:buFont typeface="Arial"/>
              <a:buChar char="•"/>
            </a:pPr>
            <a:r>
              <a:rPr lang="en-US" sz="245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Larger Ncut → Poor segmentation</a:t>
            </a:r>
          </a:p>
          <a:p>
            <a:pPr marL="529236" lvl="1" indent="-264618" algn="l">
              <a:lnSpc>
                <a:spcPts val="3431"/>
              </a:lnSpc>
              <a:buFont typeface="Arial"/>
              <a:buChar char="•"/>
            </a:pPr>
            <a:r>
              <a:rPr lang="en-US" sz="245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Many strong connections exist between groups</a:t>
            </a:r>
          </a:p>
          <a:p>
            <a:pPr marL="529236" lvl="1" indent="-264618" algn="l">
              <a:lnSpc>
                <a:spcPts val="3431"/>
              </a:lnSpc>
              <a:buFont typeface="Arial"/>
              <a:buChar char="•"/>
            </a:pPr>
            <a:r>
              <a:rPr lang="en-US" sz="2451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The partition does not separate the graph well</a:t>
            </a:r>
          </a:p>
          <a:p>
            <a:pPr algn="l">
              <a:lnSpc>
                <a:spcPts val="3431"/>
              </a:lnSpc>
            </a:pPr>
            <a:endParaRPr lang="en-US" sz="2451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986570" y="1762993"/>
            <a:ext cx="11012539" cy="7337104"/>
          </a:xfrm>
          <a:custGeom>
            <a:avLst/>
            <a:gdLst/>
            <a:ahLst/>
            <a:cxnLst/>
            <a:rect l="l" t="t" r="r" b="b"/>
            <a:pathLst>
              <a:path w="11012539" h="7337104">
                <a:moveTo>
                  <a:pt x="0" y="0"/>
                </a:moveTo>
                <a:lnTo>
                  <a:pt x="11012539" y="0"/>
                </a:lnTo>
                <a:lnTo>
                  <a:pt x="11012539" y="7337104"/>
                </a:lnTo>
                <a:lnTo>
                  <a:pt x="0" y="73371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304553" y="312114"/>
            <a:ext cx="11228195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NORMALIZED CUT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19553" y="3810377"/>
            <a:ext cx="12848894" cy="53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2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07811" y="759722"/>
            <a:ext cx="14595024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MATRIX REPRESENTATION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40813" y="2339907"/>
            <a:ext cx="9899333" cy="915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To solve the Ncut problem we represent the graph using matrices</a:t>
            </a:r>
          </a:p>
          <a:p>
            <a:pPr algn="ctr">
              <a:lnSpc>
                <a:spcPts val="3640"/>
              </a:lnSpc>
              <a:spcBef>
                <a:spcPct val="0"/>
              </a:spcBef>
            </a:pPr>
            <a:endParaRPr lang="en-US" sz="26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2310" y="4313532"/>
            <a:ext cx="4117612" cy="1173103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4070" y="6425373"/>
            <a:ext cx="4576492" cy="1799434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4025157" y="3621632"/>
            <a:ext cx="2226707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Weight Matrix: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25157" y="5900063"/>
            <a:ext cx="6809322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Degree Matrix: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25146" y="453283"/>
            <a:ext cx="14595024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RAYLEIGH QUOTIENT FORMATION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3520" y="2185480"/>
            <a:ext cx="6938389" cy="190453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3080" y="4022902"/>
            <a:ext cx="3912583" cy="1337656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3840" y="5536838"/>
            <a:ext cx="4017749" cy="1313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54152" y="8544724"/>
            <a:ext cx="2417125" cy="1110745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6910" y="7065791"/>
            <a:ext cx="3451608" cy="1285998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4828852" y="1926483"/>
            <a:ext cx="7924662" cy="457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For graph G=(V,E) divided into sets A and B: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781" y="2576569"/>
            <a:ext cx="3793294" cy="1595249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4637" y="4832996"/>
            <a:ext cx="3726043" cy="1061545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05266" y="5995852"/>
            <a:ext cx="2830631" cy="951484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3441" y="7589173"/>
            <a:ext cx="2972533" cy="999396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5873" y="8747920"/>
            <a:ext cx="2887669" cy="1574822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4970668" y="333935"/>
            <a:ext cx="8346664" cy="2434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9427" lvl="1" indent="-299713" algn="l">
              <a:lnSpc>
                <a:spcPts val="3886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Partitioning Is Discrete</a:t>
            </a:r>
          </a:p>
          <a:p>
            <a:pPr marL="599427" lvl="1" indent="-299713" algn="l">
              <a:lnSpc>
                <a:spcPts val="3886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We must decide which node goes into A or B.</a:t>
            </a:r>
          </a:p>
          <a:p>
            <a:pPr marL="599427" lvl="1" indent="-299713" algn="l">
              <a:lnSpc>
                <a:spcPts val="3886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This is a combinatorial problem (NP-complete).</a:t>
            </a:r>
          </a:p>
          <a:p>
            <a:pPr marL="599427" lvl="1" indent="-299713" algn="l">
              <a:lnSpc>
                <a:spcPts val="3886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So we will convect to vector form</a:t>
            </a:r>
          </a:p>
          <a:p>
            <a:pPr algn="l">
              <a:lnSpc>
                <a:spcPts val="3886"/>
              </a:lnSpc>
            </a:pPr>
            <a:endParaRPr lang="en-US" sz="2776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277912" y="7054350"/>
            <a:ext cx="5732175" cy="497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Important identity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91562" y="4209415"/>
            <a:ext cx="5732175" cy="438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Express Cut Using Matrix Form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8985" y="1027447"/>
            <a:ext cx="3472153" cy="1511231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7898" y="3313418"/>
            <a:ext cx="3059752" cy="1531603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4190" y="5653279"/>
            <a:ext cx="2781745" cy="82216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6070" y="7347517"/>
            <a:ext cx="1683407" cy="648689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6036" y="8771926"/>
            <a:ext cx="3938052" cy="1088538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07811" y="759722"/>
            <a:ext cx="14595024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EIGENVALUE PROBLEM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2297" y="2722650"/>
            <a:ext cx="4793750" cy="1303088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651547" y="4680442"/>
            <a:ext cx="12637164" cy="411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The Ncut optimization becomes:</a:t>
            </a:r>
          </a:p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Where</a:t>
            </a:r>
          </a:p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W = similarity matrix</a:t>
            </a:r>
          </a:p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D = degree matrix</a:t>
            </a:r>
          </a:p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y = eigenvector</a:t>
            </a:r>
          </a:p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λ = eigenvalue</a:t>
            </a:r>
          </a:p>
          <a:p>
            <a:pPr algn="just">
              <a:lnSpc>
                <a:spcPts val="3639"/>
              </a:lnSpc>
            </a:pPr>
            <a:endParaRPr lang="en-US" sz="2599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By solving this generalized eigenvalue problem, we obtain the optimal partition.</a:t>
            </a:r>
          </a:p>
          <a:p>
            <a:pPr algn="ctr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07811" y="759722"/>
            <a:ext cx="14595024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WHY SECOND EIGENVECTOR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90397" y="2941010"/>
            <a:ext cx="13867381" cy="281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2072" lvl="1" indent="-346036" algn="l">
              <a:lnSpc>
                <a:spcPts val="4487"/>
              </a:lnSpc>
              <a:buFont typeface="Arial"/>
              <a:buChar char="•"/>
            </a:pPr>
            <a:r>
              <a:rPr lang="en-US" sz="320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The smallest eigenvector corresponds to trivial solution.</a:t>
            </a:r>
          </a:p>
          <a:p>
            <a:pPr marL="692072" lvl="1" indent="-346036" algn="l">
              <a:lnSpc>
                <a:spcPts val="4487"/>
              </a:lnSpc>
              <a:buFont typeface="Arial"/>
              <a:buChar char="•"/>
            </a:pPr>
            <a:r>
              <a:rPr lang="en-US" sz="320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So we use the second smallest eigenvector</a:t>
            </a:r>
          </a:p>
          <a:p>
            <a:pPr marL="692072" lvl="1" indent="-346036" algn="l">
              <a:lnSpc>
                <a:spcPts val="4487"/>
              </a:lnSpc>
              <a:buFont typeface="Arial"/>
              <a:buChar char="•"/>
            </a:pPr>
            <a:r>
              <a:rPr lang="en-US" sz="320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This eigenvector gives the best partition of the graph.</a:t>
            </a:r>
          </a:p>
          <a:p>
            <a:pPr marL="692072" lvl="1" indent="-346036" algn="l">
              <a:lnSpc>
                <a:spcPts val="4487"/>
              </a:lnSpc>
              <a:buFont typeface="Arial"/>
              <a:buChar char="•"/>
            </a:pPr>
            <a:r>
              <a:rPr lang="en-US" sz="3205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We split nodes based on positive and negative values of eigenvector.</a:t>
            </a:r>
          </a:p>
          <a:p>
            <a:pPr algn="l">
              <a:lnSpc>
                <a:spcPts val="4487"/>
              </a:lnSpc>
            </a:pPr>
            <a:endParaRPr lang="en-US" sz="3205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430458" y="462718"/>
            <a:ext cx="14595024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ALGORITHM STEPS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29626" y="3288468"/>
            <a:ext cx="7351395" cy="374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Normalized Cuts Algorithm: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Construct weighted graph from image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Compute similarity matrix W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Compute degree matrix D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Solve eigenvalue problem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Use second eigenvector to split graph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5108395" y="741561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91763" y="-1665448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5" y="0"/>
                </a:lnTo>
                <a:lnTo>
                  <a:pt x="305991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1262014" y="7684119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5" y="0"/>
                </a:lnTo>
                <a:lnTo>
                  <a:pt x="3059915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176559" y="2773923"/>
            <a:ext cx="7545162" cy="5514828"/>
          </a:xfrm>
          <a:custGeom>
            <a:avLst/>
            <a:gdLst/>
            <a:ahLst/>
            <a:cxnLst/>
            <a:rect l="l" t="t" r="r" b="b"/>
            <a:pathLst>
              <a:path w="7545162" h="5514828">
                <a:moveTo>
                  <a:pt x="0" y="0"/>
                </a:moveTo>
                <a:lnTo>
                  <a:pt x="7545162" y="0"/>
                </a:lnTo>
                <a:lnTo>
                  <a:pt x="7545162" y="5514828"/>
                </a:lnTo>
                <a:lnTo>
                  <a:pt x="0" y="55148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30458" y="462718"/>
            <a:ext cx="14595024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SUPERPIXELS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29957" y="1895475"/>
            <a:ext cx="8360442" cy="854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Superpixels </a:t>
            </a: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group similar neighboring pixels into small regions before segmentation.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Instead of treating every pixel as a node in the graph, each superpixel becomes a node, which reduces the graph size and speeds up computation.</a:t>
            </a:r>
          </a:p>
          <a:p>
            <a:pPr algn="l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Coco Gothic Bold"/>
                <a:ea typeface="Coco Gothic Bold"/>
                <a:cs typeface="Coco Gothic Bold"/>
                <a:sym typeface="Coco Gothic Bold"/>
              </a:rPr>
              <a:t>Example</a:t>
            </a: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: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Image (512 × 512 pixels) → 262,144 pixels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 After superpixels → ~500–1000 regions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In our implementation, superpixels help: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Reduce computational complexity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Preserve object boundaries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Make Normalized Cut segmentation faster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Superpixels are commonly generated using the SLIC algorithm.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022452" y="4173500"/>
            <a:ext cx="5501966" cy="3461635"/>
          </a:xfrm>
          <a:custGeom>
            <a:avLst/>
            <a:gdLst/>
            <a:ahLst/>
            <a:cxnLst/>
            <a:rect l="l" t="t" r="r" b="b"/>
            <a:pathLst>
              <a:path w="5501966" h="3461635">
                <a:moveTo>
                  <a:pt x="0" y="0"/>
                </a:moveTo>
                <a:lnTo>
                  <a:pt x="5501966" y="0"/>
                </a:lnTo>
                <a:lnTo>
                  <a:pt x="5501966" y="3461635"/>
                </a:lnTo>
                <a:lnTo>
                  <a:pt x="0" y="346163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950" t="-3232" r="-7580" b="-9698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270644" y="2268828"/>
            <a:ext cx="5537945" cy="3449146"/>
          </a:xfrm>
          <a:custGeom>
            <a:avLst/>
            <a:gdLst/>
            <a:ahLst/>
            <a:cxnLst/>
            <a:rect l="l" t="t" r="r" b="b"/>
            <a:pathLst>
              <a:path w="5537945" h="3449146">
                <a:moveTo>
                  <a:pt x="0" y="0"/>
                </a:moveTo>
                <a:lnTo>
                  <a:pt x="5537945" y="0"/>
                </a:lnTo>
                <a:lnTo>
                  <a:pt x="5537945" y="3449146"/>
                </a:lnTo>
                <a:lnTo>
                  <a:pt x="0" y="34491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3561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270644" y="6670008"/>
            <a:ext cx="5626155" cy="3500169"/>
          </a:xfrm>
          <a:custGeom>
            <a:avLst/>
            <a:gdLst/>
            <a:ahLst/>
            <a:cxnLst/>
            <a:rect l="l" t="t" r="r" b="b"/>
            <a:pathLst>
              <a:path w="5626155" h="3500169">
                <a:moveTo>
                  <a:pt x="0" y="0"/>
                </a:moveTo>
                <a:lnTo>
                  <a:pt x="5626155" y="0"/>
                </a:lnTo>
                <a:lnTo>
                  <a:pt x="5626155" y="3500169"/>
                </a:lnTo>
                <a:lnTo>
                  <a:pt x="0" y="35001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3676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30458" y="462718"/>
            <a:ext cx="14595024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SEGMENTATION RESULTS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22452" y="3488097"/>
            <a:ext cx="5501966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Original image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270644" y="1507061"/>
            <a:ext cx="5501966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Segment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14405" y="6041816"/>
            <a:ext cx="3138633" cy="480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3"/>
              </a:lnSpc>
              <a:spcBef>
                <a:spcPct val="0"/>
              </a:spcBef>
            </a:pPr>
            <a:r>
              <a:rPr lang="en-US" sz="2852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Segment 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954401" y="1904998"/>
            <a:ext cx="12036757" cy="7195098"/>
          </a:xfrm>
          <a:custGeom>
            <a:avLst/>
            <a:gdLst/>
            <a:ahLst/>
            <a:cxnLst/>
            <a:rect l="l" t="t" r="r" b="b"/>
            <a:pathLst>
              <a:path w="12036757" h="7195098">
                <a:moveTo>
                  <a:pt x="0" y="0"/>
                </a:moveTo>
                <a:lnTo>
                  <a:pt x="12036757" y="0"/>
                </a:lnTo>
                <a:lnTo>
                  <a:pt x="12036757" y="7195099"/>
                </a:lnTo>
                <a:lnTo>
                  <a:pt x="0" y="7195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30458" y="462718"/>
            <a:ext cx="14595024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SEGMENTATION RESULTS</a:t>
            </a:r>
          </a:p>
        </p:txBody>
      </p:sp>
      <p:pic>
        <p:nvPicPr>
          <p:cNvPr id="10" name="Picture 9" descr="A tree in a field&#10;&#10;AI-generated content may be incorrect.">
            <a:extLst>
              <a:ext uri="{FF2B5EF4-FFF2-40B4-BE49-F238E27FC236}">
                <a16:creationId xmlns:a16="http://schemas.microsoft.com/office/drawing/2014/main" id="{0B7ABF36-F12B-C5C1-8247-1E1CB78662D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6591300"/>
            <a:ext cx="5378138" cy="250879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558657" y="2681027"/>
            <a:ext cx="3503068" cy="4493751"/>
          </a:xfrm>
          <a:custGeom>
            <a:avLst/>
            <a:gdLst/>
            <a:ahLst/>
            <a:cxnLst/>
            <a:rect l="l" t="t" r="r" b="b"/>
            <a:pathLst>
              <a:path w="3503068" h="4493751">
                <a:moveTo>
                  <a:pt x="0" y="0"/>
                </a:moveTo>
                <a:lnTo>
                  <a:pt x="3503069" y="0"/>
                </a:lnTo>
                <a:lnTo>
                  <a:pt x="3503069" y="4493751"/>
                </a:lnTo>
                <a:lnTo>
                  <a:pt x="0" y="44937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40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385810" y="2681027"/>
            <a:ext cx="3502645" cy="4493751"/>
          </a:xfrm>
          <a:custGeom>
            <a:avLst/>
            <a:gdLst/>
            <a:ahLst/>
            <a:cxnLst/>
            <a:rect l="l" t="t" r="r" b="b"/>
            <a:pathLst>
              <a:path w="3502645" h="4493751">
                <a:moveTo>
                  <a:pt x="0" y="0"/>
                </a:moveTo>
                <a:lnTo>
                  <a:pt x="3502645" y="0"/>
                </a:lnTo>
                <a:lnTo>
                  <a:pt x="3502645" y="4493751"/>
                </a:lnTo>
                <a:lnTo>
                  <a:pt x="0" y="449375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2897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318326" y="2681027"/>
            <a:ext cx="3502645" cy="4493751"/>
          </a:xfrm>
          <a:custGeom>
            <a:avLst/>
            <a:gdLst/>
            <a:ahLst/>
            <a:cxnLst/>
            <a:rect l="l" t="t" r="r" b="b"/>
            <a:pathLst>
              <a:path w="3502645" h="4493751">
                <a:moveTo>
                  <a:pt x="0" y="0"/>
                </a:moveTo>
                <a:lnTo>
                  <a:pt x="3502645" y="0"/>
                </a:lnTo>
                <a:lnTo>
                  <a:pt x="3502645" y="4493751"/>
                </a:lnTo>
                <a:lnTo>
                  <a:pt x="0" y="44937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2897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30458" y="462718"/>
            <a:ext cx="14595024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SEGMENTATION RESULTS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09199" y="7470884"/>
            <a:ext cx="5501966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Original image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393017" y="7470884"/>
            <a:ext cx="5501966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Segment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18665" y="7470884"/>
            <a:ext cx="5501966" cy="514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Segment 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707811" y="759722"/>
            <a:ext cx="14595024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ADVANTAGES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02642" y="3606364"/>
            <a:ext cx="6482715" cy="427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Uses global information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Avoids small isolated segments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Works for color, texture, motion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Produces balanced segmentation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46488" y="842131"/>
            <a:ext cx="14595024" cy="85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CONCLUSION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213260" y="3474127"/>
            <a:ext cx="12516083" cy="427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Normalized Cuts is a spectral graph theory approach for segmentation.</a:t>
            </a:r>
          </a:p>
          <a:p>
            <a:pPr algn="l">
              <a:lnSpc>
                <a:spcPts val="4200"/>
              </a:lnSpc>
            </a:pPr>
            <a:endParaRPr lang="en-US" sz="30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Key contributions: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global segmentation method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balanced partitions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Coco Gothic"/>
                <a:ea typeface="Coco Gothic"/>
                <a:cs typeface="Coco Gothic"/>
                <a:sym typeface="Coco Gothic"/>
              </a:rPr>
              <a:t>eigenvector based solution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endParaRPr lang="en-US" sz="3000">
              <a:solidFill>
                <a:srgbClr val="000000"/>
              </a:solidFill>
              <a:latin typeface="Coco Gothic"/>
              <a:ea typeface="Coco Gothic"/>
              <a:cs typeface="Coco Gothic"/>
              <a:sym typeface="Coco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r="-220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584626" y="-74060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0" y="0"/>
                </a:moveTo>
                <a:lnTo>
                  <a:pt x="5226652" y="0"/>
                </a:lnTo>
                <a:lnTo>
                  <a:pt x="52266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14645974" y="7042697"/>
            <a:ext cx="5226651" cy="4114800"/>
          </a:xfrm>
          <a:custGeom>
            <a:avLst/>
            <a:gdLst/>
            <a:ahLst/>
            <a:cxnLst/>
            <a:rect l="l" t="t" r="r" b="b"/>
            <a:pathLst>
              <a:path w="5226651" h="4114800">
                <a:moveTo>
                  <a:pt x="5226652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5226652" y="0"/>
                </a:lnTo>
                <a:lnTo>
                  <a:pt x="5226652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29343" y="-74060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0" y="0"/>
                </a:moveTo>
                <a:lnTo>
                  <a:pt x="3059914" y="0"/>
                </a:lnTo>
                <a:lnTo>
                  <a:pt x="3059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 flipV="1">
            <a:off x="-501257" y="7042697"/>
            <a:ext cx="3059915" cy="4114800"/>
          </a:xfrm>
          <a:custGeom>
            <a:avLst/>
            <a:gdLst/>
            <a:ahLst/>
            <a:cxnLst/>
            <a:rect l="l" t="t" r="r" b="b"/>
            <a:pathLst>
              <a:path w="3059915" h="4114800">
                <a:moveTo>
                  <a:pt x="3059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3059914" y="0"/>
                </a:lnTo>
                <a:lnTo>
                  <a:pt x="3059914" y="411480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846488" y="3962424"/>
            <a:ext cx="14595024" cy="2124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386"/>
              </a:lnSpc>
            </a:pPr>
            <a:r>
              <a:rPr lang="en-US" sz="12418">
                <a:solidFill>
                  <a:srgbClr val="050E9B"/>
                </a:solidFill>
                <a:latin typeface="Merriweather Sans"/>
                <a:ea typeface="Merriweather Sans"/>
                <a:cs typeface="Merriweather Sans"/>
                <a:sym typeface="Merriweather San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1026</Words>
  <Application>Microsoft Office PowerPoint</Application>
  <PresentationFormat>Custom</PresentationFormat>
  <Paragraphs>219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Merriweather Sans</vt:lpstr>
      <vt:lpstr>Coco Gothic</vt:lpstr>
      <vt:lpstr>Coco Gothic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Normalized Cut</dc:title>
  <cp:lastModifiedBy>Baskaran Boss</cp:lastModifiedBy>
  <cp:revision>1</cp:revision>
  <dcterms:created xsi:type="dcterms:W3CDTF">2006-08-16T00:00:00Z</dcterms:created>
  <dcterms:modified xsi:type="dcterms:W3CDTF">2026-03-13T12:08:35Z</dcterms:modified>
  <dc:identifier>DAHDv-rlVCQ</dc:identifier>
</cp:coreProperties>
</file>